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IN"/>
              <a:t>Revenue Growth Forecast ($M)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Revenue</c:v>
          </c:tx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2024A</c:v>
              </c:pt>
              <c:pt idx="1">
                <c:v>2025A</c:v>
              </c:pt>
              <c:pt idx="2">
                <c:v>2026E</c:v>
              </c:pt>
              <c:pt idx="3">
                <c:v>2027E</c:v>
              </c:pt>
              <c:pt idx="4">
                <c:v>2028E</c:v>
              </c:pt>
            </c:strLit>
          </c:cat>
          <c:val>
            <c:numLit>
              <c:formatCode>\$0.0</c:formatCode>
              <c:ptCount val="5"/>
              <c:pt idx="0">
                <c:v>412</c:v>
              </c:pt>
              <c:pt idx="1">
                <c:v>509.3</c:v>
              </c:pt>
              <c:pt idx="2">
                <c:v>611.4</c:v>
              </c:pt>
              <c:pt idx="3">
                <c:v>719.4</c:v>
              </c:pt>
              <c:pt idx="4">
                <c:v>830.8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249-4FAE-B572-4B2EDEBD87E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\$0.0" sourceLinked="1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ln w="9525">
      <a:solidFill>
        <a:srgbClr val="D9D9D9"/>
      </a:solidFill>
      <a:prstDash val="solid"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Units &amp; ARPU Growth Index (2024A = 100</a:t>
            </a:r>
            <a:endParaRPr lang="en-IN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4.9243219597550299E-2"/>
          <c:y val="0.12071463628022107"/>
          <c:w val="0.93747175624786028"/>
          <c:h val="0.65775558542987"/>
        </c:manualLayout>
      </c:layout>
      <c:lineChart>
        <c:grouping val="standard"/>
        <c:varyColors val="0"/>
        <c:ser>
          <c:idx val="0"/>
          <c:order val="0"/>
          <c:tx>
            <c:strRef>
              <c:f>Chart_Data!$F$14:$F$15</c:f>
              <c:strCache>
                <c:ptCount val="2"/>
                <c:pt idx="1">
                  <c:v>Units Index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Chart_Data!$E$16:$E$20</c:f>
              <c:strCache>
                <c:ptCount val="5"/>
                <c:pt idx="0">
                  <c:v>2024A</c:v>
                </c:pt>
                <c:pt idx="1">
                  <c:v>2025A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</c:strCache>
            </c:strRef>
          </c:cat>
          <c:val>
            <c:numRef>
              <c:f>Chart_Data!$F$16:$F$20</c:f>
              <c:numCache>
                <c:formatCode>General</c:formatCode>
                <c:ptCount val="5"/>
                <c:pt idx="0">
                  <c:v>100</c:v>
                </c:pt>
                <c:pt idx="1">
                  <c:v>114.8</c:v>
                </c:pt>
                <c:pt idx="2">
                  <c:v>128.6</c:v>
                </c:pt>
                <c:pt idx="3">
                  <c:v>142.69999999999999</c:v>
                </c:pt>
                <c:pt idx="4">
                  <c:v>157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2D-430E-9426-3F3FA58F8DE2}"/>
            </c:ext>
          </c:extLst>
        </c:ser>
        <c:ser>
          <c:idx val="1"/>
          <c:order val="1"/>
          <c:tx>
            <c:strRef>
              <c:f>Chart_Data!$G$14:$G$15</c:f>
              <c:strCache>
                <c:ptCount val="2"/>
                <c:pt idx="1">
                  <c:v>ARPU Index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Chart_Data!$E$16:$E$20</c:f>
              <c:strCache>
                <c:ptCount val="5"/>
                <c:pt idx="0">
                  <c:v>2024A</c:v>
                </c:pt>
                <c:pt idx="1">
                  <c:v>2025A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</c:strCache>
            </c:strRef>
          </c:cat>
          <c:val>
            <c:numRef>
              <c:f>Chart_Data!$G$16:$G$20</c:f>
              <c:numCache>
                <c:formatCode>General</c:formatCode>
                <c:ptCount val="5"/>
                <c:pt idx="0">
                  <c:v>100</c:v>
                </c:pt>
                <c:pt idx="1">
                  <c:v>107.7</c:v>
                </c:pt>
                <c:pt idx="2">
                  <c:v>115.3</c:v>
                </c:pt>
                <c:pt idx="3">
                  <c:v>122.2</c:v>
                </c:pt>
                <c:pt idx="4">
                  <c:v>128.30000000000001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2D-430E-9426-3F3FA58F8DE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70894607"/>
        <c:axId val="1970895567"/>
      </c:lineChart>
      <c:catAx>
        <c:axId val="1970894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0895567"/>
        <c:crosses val="autoZero"/>
        <c:auto val="1"/>
        <c:lblAlgn val="ctr"/>
        <c:lblOffset val="100"/>
        <c:noMultiLvlLbl val="0"/>
      </c:catAx>
      <c:valAx>
        <c:axId val="1970895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0894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Gross Margin vs Operating Margin</a:t>
            </a:r>
          </a:p>
        </c:rich>
      </c:tx>
      <c:layout>
        <c:manualLayout>
          <c:xMode val="edge"/>
          <c:yMode val="edge"/>
          <c:x val="0.2591282051282051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Chart_Data!$E$1</c:f>
              <c:strCache>
                <c:ptCount val="1"/>
                <c:pt idx="0">
                  <c:v>Gross Margin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Chart_Data!$E$2:$E$6</c:f>
              <c:numCache>
                <c:formatCode>0.0%</c:formatCode>
                <c:ptCount val="5"/>
                <c:pt idx="0">
                  <c:v>0.55500000000000005</c:v>
                </c:pt>
                <c:pt idx="1">
                  <c:v>0.60099999999999998</c:v>
                </c:pt>
                <c:pt idx="2">
                  <c:v>0.63</c:v>
                </c:pt>
                <c:pt idx="3">
                  <c:v>0.64</c:v>
                </c:pt>
                <c:pt idx="4">
                  <c:v>0.65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11-483B-A4D9-5B0C7A7B2C19}"/>
            </c:ext>
          </c:extLst>
        </c:ser>
        <c:ser>
          <c:idx val="1"/>
          <c:order val="1"/>
          <c:tx>
            <c:strRef>
              <c:f>Chart_Data!$F$1</c:f>
              <c:strCache>
                <c:ptCount val="1"/>
                <c:pt idx="0">
                  <c:v>Operating Margin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Chart_Data!$F$2:$F$6</c:f>
              <c:numCache>
                <c:formatCode>0.0%</c:formatCode>
                <c:ptCount val="5"/>
                <c:pt idx="0">
                  <c:v>0.128</c:v>
                </c:pt>
                <c:pt idx="1">
                  <c:v>0.16200000000000001</c:v>
                </c:pt>
                <c:pt idx="2">
                  <c:v>0.26</c:v>
                </c:pt>
                <c:pt idx="3">
                  <c:v>0.28999999999999998</c:v>
                </c:pt>
                <c:pt idx="4">
                  <c:v>0.31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11-483B-A4D9-5B0C7A7B2C1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50776591"/>
        <c:axId val="1950767951"/>
      </c:lineChart>
      <c:catAx>
        <c:axId val="1950776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0767951"/>
        <c:crosses val="autoZero"/>
        <c:auto val="1"/>
        <c:lblAlgn val="ctr"/>
        <c:lblOffset val="100"/>
        <c:noMultiLvlLbl val="0"/>
      </c:catAx>
      <c:valAx>
        <c:axId val="1950767951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0776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Chart_Data!$C$8</c:f>
              <c:strCache>
                <c:ptCount val="1"/>
                <c:pt idx="0">
                  <c:v>Price / Share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Chart_Data!$A$9:$A$11</c:f>
              <c:strCache>
                <c:ptCount val="3"/>
                <c:pt idx="0">
                  <c:v>Low</c:v>
                </c:pt>
                <c:pt idx="1">
                  <c:v>Target</c:v>
                </c:pt>
                <c:pt idx="2">
                  <c:v>High</c:v>
                </c:pt>
              </c:strCache>
            </c:strRef>
          </c:cat>
          <c:val>
            <c:numRef>
              <c:f>Chart_Data!$C$9:$C$11</c:f>
              <c:numCache>
                <c:formatCode>\$0</c:formatCode>
                <c:ptCount val="3"/>
                <c:pt idx="0">
                  <c:v>22</c:v>
                </c:pt>
                <c:pt idx="1">
                  <c:v>24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64-4010-A76B-712D4D1278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48518111"/>
        <c:axId val="1848524351"/>
      </c:barChart>
      <c:catAx>
        <c:axId val="184851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8524351"/>
        <c:crosses val="autoZero"/>
        <c:auto val="1"/>
        <c:lblAlgn val="ctr"/>
        <c:lblOffset val="100"/>
        <c:noMultiLvlLbl val="0"/>
      </c:catAx>
      <c:valAx>
        <c:axId val="1848524351"/>
        <c:scaling>
          <c:orientation val="minMax"/>
        </c:scaling>
        <c:delete val="0"/>
        <c:axPos val="l"/>
        <c:numFmt formatCode="\$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851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IN"/>
              <a:t>Investment Thesis Drivers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v>Weight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1A1-45CB-B96D-79566B75E92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1A1-45CB-B96D-79566B75E92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1A1-45CB-B96D-79566B75E92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1A1-45CB-B96D-79566B75E92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Lit>
              <c:ptCount val="4"/>
              <c:pt idx="0">
                <c:v>Revenue Growth</c:v>
              </c:pt>
              <c:pt idx="1">
                <c:v>Margin Expansion</c:v>
              </c:pt>
              <c:pt idx="2">
                <c:v>Retention</c:v>
              </c:pt>
              <c:pt idx="3">
                <c:v>AI Opportunity</c:v>
              </c:pt>
            </c:strLit>
          </c:cat>
          <c:val>
            <c:numLit>
              <c:formatCode>0%</c:formatCode>
              <c:ptCount val="4"/>
              <c:pt idx="0">
                <c:v>35</c:v>
              </c:pt>
              <c:pt idx="1">
                <c:v>25</c:v>
              </c:pt>
              <c:pt idx="2">
                <c:v>20</c:v>
              </c:pt>
              <c:pt idx="3">
                <c:v>20</c:v>
              </c:pt>
            </c:numLit>
          </c:val>
          <c:extLst>
            <c:ext xmlns:c16="http://schemas.microsoft.com/office/drawing/2014/chart" uri="{C3380CC4-5D6E-409C-BE32-E72D297353CC}">
              <c16:uniqueId val="{00000008-81A1-45CB-B96D-79566B75E925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1600"/>
              <a:t>Entrata IPO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22451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E1F0"/>
                </a:solidFill>
              </a:defRPr>
            </a:pPr>
            <a:r>
              <a:rPr sz="1600" dirty="0"/>
              <a:t>Case Study Presentation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377440" cy="1051560"/>
          </a:xfrm>
          <a:prstGeom prst="roundRect">
            <a:avLst/>
          </a:prstGeom>
          <a:solidFill>
            <a:srgbClr val="DEF1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816352"/>
            <a:ext cx="2157984" cy="90525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Recommendation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SUBSCRIBE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Positive IPO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743200"/>
            <a:ext cx="2377440" cy="1051560"/>
          </a:xfrm>
          <a:prstGeom prst="roundRect">
            <a:avLst/>
          </a:prstGeom>
          <a:solidFill>
            <a:srgbClr val="DE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93008" y="2816352"/>
            <a:ext cx="2157984" cy="90525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Target Price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$24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Base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43200"/>
            <a:ext cx="2377440" cy="1051560"/>
          </a:xfrm>
          <a:prstGeom prst="roundRect">
            <a:avLst/>
          </a:prstGeom>
          <a:solidFill>
            <a:srgbClr val="DE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44768" y="2816352"/>
            <a:ext cx="2157984" cy="90525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IPO Range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$22–$26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Low to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743200"/>
            <a:ext cx="2377440" cy="1051560"/>
          </a:xfrm>
          <a:prstGeom prst="roundRect">
            <a:avLst/>
          </a:prstGeom>
          <a:solidFill>
            <a:srgbClr val="DE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96528" y="2816352"/>
            <a:ext cx="2157984" cy="90525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2025 Revenue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$509.3M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+23.6%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 sz="1600"/>
              <a:t>Prepared by: Nilesh Wagh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/>
              <a:t>Investment view: subscribe at $24/share target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169164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170432"/>
            <a:ext cx="1184427" cy="74635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 dirty="0"/>
              <a:t>2025 Revenue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 dirty="0"/>
              <a:t>$509.3M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050" dirty="0"/>
              <a:t>+23.6% YoY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97280"/>
            <a:ext cx="169164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532888" y="1170432"/>
            <a:ext cx="1106329" cy="74635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 dirty="0"/>
              <a:t>Gross Margin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 dirty="0"/>
              <a:t>60.1%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050" dirty="0"/>
              <a:t>+460 bps vs 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97280"/>
            <a:ext cx="169164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170432"/>
            <a:ext cx="1467389" cy="74635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 dirty="0"/>
              <a:t>Operating Margin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 dirty="0"/>
              <a:t>16.2%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050" dirty="0"/>
              <a:t>+340 bps vs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169164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170432"/>
            <a:ext cx="1458733" cy="74635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 dirty="0"/>
              <a:t>Gross Retention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 dirty="0"/>
              <a:t>97%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050" dirty="0"/>
              <a:t>Strong customer stickiness</a:t>
            </a:r>
            <a:endParaRPr sz="1600" dirty="0"/>
          </a:p>
        </p:txBody>
      </p:sp>
      <p:sp>
        <p:nvSpPr>
          <p:cNvPr id="13" name="Rounded Rectangle 12"/>
          <p:cNvSpPr/>
          <p:nvPr/>
        </p:nvSpPr>
        <p:spPr>
          <a:xfrm>
            <a:off x="8183880" y="1097280"/>
            <a:ext cx="169164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170432"/>
            <a:ext cx="975395" cy="74635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 dirty="0"/>
              <a:t>Target Price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 dirty="0"/>
              <a:t>$24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050" dirty="0"/>
              <a:t>8.5x EV/Revenue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097280"/>
            <a:ext cx="169164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13848" y="1170432"/>
            <a:ext cx="1048364" cy="74635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 dirty="0"/>
              <a:t>IPO Range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 dirty="0"/>
              <a:t>$22–$26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050" dirty="0"/>
              <a:t>Low / Target /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14600"/>
            <a:ext cx="5303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514600"/>
            <a:ext cx="530352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56946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Why Subscribe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2953512"/>
            <a:ext cx="4974336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Entrata combines 20%+ forecast growth with strong retention and improving profitability.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Vertical SaaS model benefits from scale, recurring revenue, and embedded payment workflows.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AI-enabled Operating System strengthens the long-term platform story and ARPU expansion.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514600"/>
            <a:ext cx="5303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514600"/>
            <a:ext cx="5303520" cy="320040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56946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 dirty="0"/>
              <a:t>Valuation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2953512"/>
            <a:ext cx="4974336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Base case uses 8.5x EV/Revenue, broadly aligned with software peer framework.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Target price of $24 sits within the recommended IPO range of $22–$26.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Main downside risks are competition, payments exposure, and controlled-company governance.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/>
              <a:t>Cloud-native operating system for multifamily property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152144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What Entrata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332841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Unified platform replacing fragmented CRM, ERP, property operations, and resident tools.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Serves owners, operators, residents, and vendors in a single operating system.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Includes payment infrastructure and AI-enabled automation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972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097280"/>
            <a:ext cx="3474720" cy="320040"/>
          </a:xfrm>
          <a:prstGeom prst="rect">
            <a:avLst/>
          </a:prstGeom>
          <a:solidFill>
            <a:srgbClr val="14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152144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536192"/>
            <a:ext cx="314553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2.5M powered units as of Mar-2026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2.4M units served as of Dec-2025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233 customers with ARR &gt; $500K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4 of top 10 NMHC operators use Entrata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347472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152144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536192"/>
            <a:ext cx="314553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Mission-critical software for complex property operations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High switching costs and strong retention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Large white-space opportunity in ARPU expansion and AI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Industry &amp;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8076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 dirty="0"/>
              <a:t>Large, underpenetrated rental-property software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228600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124712"/>
            <a:ext cx="2066543" cy="81381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Rental Market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~$1T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Annual U.S. rental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051560"/>
            <a:ext cx="228600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55848" y="1124712"/>
            <a:ext cx="2066543" cy="81381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Multifamily Units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23.4M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U.S. SAM 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051560"/>
            <a:ext cx="228600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61888" y="1124712"/>
            <a:ext cx="2066543" cy="81381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Entrata Penetration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~10%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2.4M units served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051560"/>
            <a:ext cx="228600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67928" y="1124712"/>
            <a:ext cx="2066543" cy="81381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Core SAM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$13.6B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23.4M × $580 ARPU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2316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423160"/>
            <a:ext cx="5212080" cy="320040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478024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Demand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862072"/>
            <a:ext cx="48828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Operators face rising cost pressure and need automation to improve efficiency.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Cloud-native, AI-enabled solutions are gaining adoption across multifamily operators.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Enterprise operators require scalable, configurable platforms across large portfolios.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42316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521208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478024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Why Entrata Can Capture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862072"/>
            <a:ext cx="48828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Unified platform with payments, resident engagement, and AI workflows.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Integrated partner network and single data layer increase platform value.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Customer expansion through units and product cross-sell supports ARPU uplift.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KPI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17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 dirty="0"/>
              <a:t>Revenue is driven by units × ARPU, supported by retention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038200"/>
              </p:ext>
            </p:extLst>
          </p:nvPr>
        </p:nvGraphicFramePr>
        <p:xfrm>
          <a:off x="551592" y="111539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Metric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2024A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2025A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Comment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Revenue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$412.0M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$509.3M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+23.6% growth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2.13M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2.44M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Unit base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ARPU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$194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$209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Monetization uplift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Gross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Sticky customer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Customers &gt;$500K ARR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183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233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+27% customer count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005840"/>
            <a:ext cx="40233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402336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1060704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444752"/>
            <a:ext cx="369417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 dirty="0"/>
              <a:t>Growth is not dependent on only one driver.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 dirty="0"/>
              <a:t>Unit expansion shows customer and portfolio growth.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 dirty="0"/>
              <a:t>ARPU growth demonstrates product attach, payments, and cross-sell.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 dirty="0"/>
              <a:t>High retention supports predictability and lowers downside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Revenue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/>
              <a:t>KPI-driven revenue forecast: Units × ARPU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097280"/>
            <a:ext cx="3840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097280"/>
            <a:ext cx="3840480" cy="320040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1152144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1536192"/>
            <a:ext cx="35112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lang="en-US" sz="1600" dirty="0"/>
              <a:t>Revenue grows from </a:t>
            </a:r>
            <a:r>
              <a:rPr lang="en-US" sz="1600" b="1" dirty="0"/>
              <a:t>$509.3M</a:t>
            </a:r>
            <a:r>
              <a:rPr lang="en-US" sz="1600" dirty="0"/>
              <a:t> in 2025A to </a:t>
            </a:r>
            <a:r>
              <a:rPr lang="en-US" sz="1600" b="1" dirty="0"/>
              <a:t>$830.8M</a:t>
            </a:r>
            <a:r>
              <a:rPr lang="en-US" sz="1600" dirty="0"/>
              <a:t> in 2028E.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 dirty="0"/>
              <a:t>2026E revenue growth is ~20%, driven by both units and ARPU.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 dirty="0"/>
              <a:t>Growth decelerates prudently as the company scales.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6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449636"/>
              </p:ext>
            </p:extLst>
          </p:nvPr>
        </p:nvGraphicFramePr>
        <p:xfrm>
          <a:off x="532170" y="1152144"/>
          <a:ext cx="6874469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Units &amp; ARPU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66873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 dirty="0"/>
              <a:t>Growth is supported by both scale and monetization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5156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074920"/>
            <a:ext cx="1051560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129783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186416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 dirty="0"/>
              <a:t>Unit growth reflects market-share gains, while ARPU growth reflects additional product adoption, payments, and AI monetization.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7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562E847-21BD-6DBB-CE3A-4D9F518743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9301283"/>
              </p:ext>
            </p:extLst>
          </p:nvPr>
        </p:nvGraphicFramePr>
        <p:xfrm>
          <a:off x="731520" y="1051560"/>
          <a:ext cx="10515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Margin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821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 dirty="0"/>
              <a:t>Operating leverage from scalable SaaS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066763"/>
            <a:ext cx="38404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097280"/>
            <a:ext cx="3840480" cy="320040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1152144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 dirty="0"/>
              <a:t>Why Margins 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1536192"/>
            <a:ext cx="351129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Gross margin expands from 60.1% to 65.0%.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Operating margin expands from 16.2% to 31.0%.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S&amp;M, R&amp;D, and G&amp;A grow slower than revenue.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Cloud-native software model benefits from scale.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8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362BD56-DB10-4E1F-AA5D-E3DFE4DA19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9315977"/>
              </p:ext>
            </p:extLst>
          </p:nvPr>
        </p:nvGraphicFramePr>
        <p:xfrm>
          <a:off x="581332" y="1152144"/>
          <a:ext cx="6797876" cy="372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Financial Forecast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77977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 dirty="0"/>
              <a:t>Forecast reflects continued growth with improving profitability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529133"/>
              </p:ext>
            </p:extLst>
          </p:nvPr>
        </p:nvGraphicFramePr>
        <p:xfrm>
          <a:off x="548640" y="1051560"/>
          <a:ext cx="6675120" cy="2918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$M except %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2025A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2026E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2027E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2028E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Revenue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509.3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611.4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719.4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830.8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60.1%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63.0%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64.0%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Operating Margin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16.2%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26.0%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29.0%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31.0%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Units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2.44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2.73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3.03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3.34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ARPU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$209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$224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$237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$249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051560"/>
            <a:ext cx="35661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051560"/>
            <a:ext cx="356616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106424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Model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1" y="1490472"/>
            <a:ext cx="3236976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Revenue forecast is KPI-driven.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Margin forecast reflects SaaS operating leverage.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Valuation uses 2026E revenue as the forward IPO valuation 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Relative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9256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 dirty="0"/>
              <a:t>EV/Revenue framework for high-growth vertical SaaS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905613"/>
              </p:ext>
            </p:extLst>
          </p:nvPr>
        </p:nvGraphicFramePr>
        <p:xfrm>
          <a:off x="740664" y="1002448"/>
          <a:ext cx="5760720" cy="2517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Peer / Scenario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EV/Revenue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Rationale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Low Case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7.8x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Conservative discount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Target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8.5x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Base case / peer-aligned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High Case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9.2x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Upside case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Peer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~8.8x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Comparable SaaS valuation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12280" y="1005840"/>
            <a:ext cx="4389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12280" y="1005840"/>
            <a:ext cx="4389120" cy="320040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1060704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Why EV/Revenue?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1444752"/>
            <a:ext cx="405993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IPO-stage growth SaaS companies are often valued on forward revenue.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Earnings can be affected by investment cycle, stock-based compensation, and public-company costs.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EV/Revenue allows cleaner comparison across growth software peers.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10469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886200"/>
            <a:ext cx="1046988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941063"/>
            <a:ext cx="101955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Peer Group Considered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25112"/>
            <a:ext cx="10140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AppFolio, Procore, Guidewire, BlackLine, Workiva and other vertical/application software peers.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IPO Valuation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/>
              <a:t>Low / Target / High share-price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097280"/>
            <a:ext cx="40233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60920" y="1097280"/>
            <a:ext cx="402336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0" y="1152144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1536192"/>
            <a:ext cx="369417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Recommend: SUBSCRIBE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Target price: $24/share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IPO range: $22–$26/share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Base case supported by 8.5x EV/Revenue and 2026E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11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63F9995D-35FD-453A-A2EB-ABBA68F937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3472015"/>
              </p:ext>
            </p:extLst>
          </p:nvPr>
        </p:nvGraphicFramePr>
        <p:xfrm>
          <a:off x="429768" y="1152144"/>
          <a:ext cx="6903720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Investment Thesis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/>
              <a:t>Relative contribution of key drivers to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51560"/>
            <a:ext cx="5029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1051560"/>
            <a:ext cx="5029200" cy="320040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0642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490472"/>
            <a:ext cx="47000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Revenue Growth (35%): unit expansion + ARPU uplift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Margin Expansion (25%): SaaS operating leverage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Retention (20%): 97% gross retention supports recurring revenue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AI Opportunity (20%): premium AI products support long-term monetization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12</a:t>
            </a:r>
          </a:p>
        </p:txBody>
      </p:sp>
      <p:graphicFrame>
        <p:nvGraphicFramePr>
          <p:cNvPr id="13" name="Chart">
            <a:extLst>
              <a:ext uri="{FF2B5EF4-FFF2-40B4-BE49-F238E27FC236}">
                <a16:creationId xmlns:a16="http://schemas.microsoft.com/office/drawing/2014/main" id="{00000000-0008-0000-08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3324800"/>
              </p:ext>
            </p:extLst>
          </p:nvPr>
        </p:nvGraphicFramePr>
        <p:xfrm>
          <a:off x="685185" y="1106424"/>
          <a:ext cx="4624233" cy="4059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Key Risks &amp; Mitigants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85019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 dirty="0"/>
              <a:t>Risks that could pressure valuation or growth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587659"/>
              </p:ext>
            </p:extLst>
          </p:nvPr>
        </p:nvGraphicFramePr>
        <p:xfrm>
          <a:off x="731520" y="967149"/>
          <a:ext cx="10671048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7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7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Risk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Why It Matters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Mitigant / View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Competition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Property software market is competitive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Entrata has enterprise scale and integrated OS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Customer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Lower unit or ARPU growth hurts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Retention and cross-sell provide cushion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Payments Exposure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Payments can add compliance and processing risk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Embedded payments also support monetization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Controlled-company structure reduces investor influence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Valuation range reflects governance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34840"/>
            <a:ext cx="10652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1065276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489703"/>
            <a:ext cx="10378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Bottom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873752"/>
            <a:ext cx="10323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 dirty="0"/>
              <a:t>Risks are real, but the base-case valuation remains supportable given growth, retention, and operating leverage.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Final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/>
              <a:t>Subscribe with target price of $24/share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2926080" cy="1188720"/>
          </a:xfrm>
          <a:prstGeom prst="roundRect">
            <a:avLst/>
          </a:prstGeom>
          <a:solidFill>
            <a:srgbClr val="DEF1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261872"/>
            <a:ext cx="2706624" cy="104241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Recommendation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SUBSCRIBE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At $24/share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2926080" cy="1188720"/>
          </a:xfrm>
          <a:prstGeom prst="roundRect">
            <a:avLst/>
          </a:prstGeom>
          <a:solidFill>
            <a:srgbClr val="DE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1728" y="1261872"/>
            <a:ext cx="2706624" cy="104241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Target Price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$24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Base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2926080" cy="1188720"/>
          </a:xfrm>
          <a:prstGeom prst="roundRect">
            <a:avLst/>
          </a:prstGeom>
          <a:solidFill>
            <a:srgbClr val="DEEB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39327" y="1261872"/>
            <a:ext cx="2706624" cy="104241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rPr sz="1600"/>
              <a:t>IPO Range</a:t>
            </a:r>
          </a:p>
          <a:p>
            <a:pPr>
              <a:defRPr sz="2000" b="1">
                <a:solidFill>
                  <a:srgbClr val="062340"/>
                </a:solidFill>
              </a:defRPr>
            </a:pPr>
            <a:r>
              <a:rPr sz="1600"/>
              <a:t>$22–$26</a:t>
            </a:r>
          </a:p>
          <a:p>
            <a:pPr>
              <a:defRPr sz="800">
                <a:solidFill>
                  <a:srgbClr val="555555"/>
                </a:solidFill>
              </a:defRPr>
            </a:pPr>
            <a:r>
              <a:rPr sz="1600"/>
              <a:t>Low to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26080"/>
            <a:ext cx="10241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10241280" cy="320040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980944"/>
            <a:ext cx="99669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364992"/>
            <a:ext cx="9912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Entrata has a strong vertical SaaS profile with 24% 2025 revenue growth, high retention, and improving profitability.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Forecast supports continued revenue growth through unit expansion and ARPU uplift.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Relative valuation supports a $24/share target price and a recommended IPO range of $22–$26.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/>
              <a:t>Entrata IPO Valuation Case Study | Nilesh Wagh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2340"/>
                </a:solidFill>
              </a:defRPr>
            </a:pPr>
            <a:r>
              <a:rPr sz="1600"/>
              <a:t>Appendix: Forecast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943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600" dirty="0"/>
              <a:t>Key inputs used in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340305"/>
              </p:ext>
            </p:extLst>
          </p:nvPr>
        </p:nvGraphicFramePr>
        <p:xfrm>
          <a:off x="594360" y="1092462"/>
          <a:ext cx="1106424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Assumption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2026E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2027E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2028E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Rationale</a:t>
                      </a:r>
                    </a:p>
                  </a:txBody>
                  <a:tcPr>
                    <a:solidFill>
                      <a:srgbClr val="06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Unit Growth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12%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11%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10%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Continued share gains, modest deceleration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ARPU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Cross-sell, payments, AI monetization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Gross Margin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63%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64%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65%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Scale benefits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Operating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Operating leverage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EV/Revenue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8.5x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—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—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Base IPO valuation multiple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29768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4297680"/>
            <a:ext cx="10698480" cy="32004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352544"/>
            <a:ext cx="104241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Source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736592"/>
            <a:ext cx="10369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rPr sz="1600"/>
              <a:t>Historical figures are based on Entrata S-1/A and the submitted Excel model. Forecasts, valuation multiples, IPO range and target price are analyst assumptions for the case study.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 dirty="0"/>
              <a:t>Entrata IPO Valuation Case Study | Nilesh Wagh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0B33D-4B78-663B-A27B-D42835594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FB902-B020-3A2E-AEF4-F5A10F537E0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CD4D8-BD05-E41A-2D11-3798287F9064}"/>
              </a:ext>
            </a:extLst>
          </p:cNvPr>
          <p:cNvSpPr txBox="1"/>
          <p:nvPr/>
        </p:nvSpPr>
        <p:spPr>
          <a:xfrm>
            <a:off x="3959549" y="3028890"/>
            <a:ext cx="3680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555555"/>
                </a:solidFill>
              </a:defRPr>
            </a:pPr>
            <a:r>
              <a:rPr lang="en-US" sz="3200" b="1" dirty="0"/>
              <a:t>THANK YOU</a:t>
            </a:r>
            <a:endParaRPr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13E43F-6B9A-9CF7-141F-F822984722A1}"/>
              </a:ext>
            </a:extLst>
          </p:cNvPr>
          <p:cNvSpPr txBox="1"/>
          <p:nvPr/>
        </p:nvSpPr>
        <p:spPr>
          <a:xfrm>
            <a:off x="914400" y="4352544"/>
            <a:ext cx="104241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600"/>
              <a:t>Source Note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CAF49-B2AE-972E-FDC9-B0084F36DC88}"/>
              </a:ext>
            </a:extLst>
          </p:cNvPr>
          <p:cNvSpPr txBox="1"/>
          <p:nvPr/>
        </p:nvSpPr>
        <p:spPr>
          <a:xfrm>
            <a:off x="320040" y="6510528"/>
            <a:ext cx="49802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55555"/>
                </a:solidFill>
              </a:defRPr>
            </a:pPr>
            <a:r>
              <a:rPr sz="1600" dirty="0"/>
              <a:t>Entrata IPO Valuation Case Study | Nilesh Wagh | Slide 1</a:t>
            </a:r>
            <a:r>
              <a:rPr lang="en-US" sz="1600" dirty="0"/>
              <a:t>6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691493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1423</Words>
  <Application>Microsoft Office PowerPoint</Application>
  <PresentationFormat>Widescreen</PresentationFormat>
  <Paragraphs>292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Nilesh Wagh</cp:lastModifiedBy>
  <cp:revision>6</cp:revision>
  <dcterms:created xsi:type="dcterms:W3CDTF">2013-01-27T09:14:16Z</dcterms:created>
  <dcterms:modified xsi:type="dcterms:W3CDTF">2026-06-14T11:21:28Z</dcterms:modified>
  <cp:category/>
</cp:coreProperties>
</file>